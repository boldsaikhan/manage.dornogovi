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53312"/>
          </a:xfrm>
          <a:prstGeom prst="rect">
            <a:avLst/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53312"/>
            <a:ext cx="12191695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37744"/>
            <a:ext cx="841248" cy="8412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164592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  <a:ea typeface="Calibri"/>
              </a:rPr>
              <a:t>Дорноговь аймгийн ЗДТГ — Дотоод нэгдсэн систем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640080"/>
            <a:ext cx="10424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DBA74"/>
                </a:solidFill>
                <a:latin typeface="Calibri"/>
                <a:ea typeface="Calibri"/>
              </a:rPr>
              <a:t>https://manage.dornogovi.gov.mn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950976"/>
            <a:ext cx="10424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FDBFE"/>
                </a:solidFill>
                <a:latin typeface="Calibri"/>
                <a:ea typeface="Calibri"/>
              </a:rPr>
              <a:t>Сургалт  ·  нэвтрэх боломжууд  ·  бодит нэвтрэх хуудас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608" y="1591056"/>
            <a:ext cx="4160520" cy="48280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664208"/>
            <a:ext cx="3886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2F63"/>
                </a:solidFill>
                <a:latin typeface="Calibri"/>
                <a:ea typeface="Calibri"/>
              </a:rPr>
              <a:t>Харагдах байдал — нэвтрэх</a:t>
            </a:r>
          </a:p>
        </p:txBody>
      </p:sp>
      <p:pic>
        <p:nvPicPr>
          <p:cNvPr id="11" name="Picture 10" descr="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653" y="1938528"/>
            <a:ext cx="2597573" cy="43159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63440" y="1591056"/>
            <a:ext cx="7178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F2F63"/>
                </a:solidFill>
                <a:latin typeface="Calibri"/>
                <a:ea typeface="Calibri"/>
              </a:rPr>
              <a:t>Нэвтрэх боломжууд — 3 арга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1956816"/>
            <a:ext cx="71780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828032" y="2157984"/>
            <a:ext cx="438912" cy="438912"/>
          </a:xfrm>
          <a:prstGeom prst="roundRect">
            <a:avLst>
              <a:gd name="adj" fmla="val 20000"/>
            </a:avLst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8032" y="2212848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  <a:ea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2084832"/>
            <a:ext cx="6217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2F63"/>
                </a:solidFill>
                <a:latin typeface="Calibri"/>
                <a:ea typeface="Calibri"/>
              </a:rPr>
              <a:t>Утас + нууц үг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2395728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  <a:ea typeface="Calibri"/>
              </a:rPr>
              <a:t>Үндсэн арга. 8 оронтой дугаар, нууц үг, «Нэвтрэх».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2889504"/>
            <a:ext cx="71780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28032" y="3090672"/>
            <a:ext cx="438912" cy="438912"/>
          </a:xfrm>
          <a:prstGeom prst="roundRect">
            <a:avLst>
              <a:gd name="adj" fmla="val 20000"/>
            </a:avLst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28032" y="3145536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  <a:ea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3017520"/>
            <a:ext cx="6217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2F63"/>
                </a:solidFill>
                <a:latin typeface="Calibri"/>
                <a:ea typeface="Calibri"/>
              </a:rPr>
              <a:t>QR кодоор нэвтрэх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40680" y="3328416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  <a:ea typeface="Calibri"/>
              </a:rPr>
              <a:t>Компьютер дээр код гарна. Утаснаасаа уншуулаад зөвшөөрнө.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63440" y="3822192"/>
            <a:ext cx="71780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828032" y="4023360"/>
            <a:ext cx="438912" cy="438912"/>
          </a:xfrm>
          <a:prstGeom prst="roundRect">
            <a:avLst>
              <a:gd name="adj" fmla="val 20000"/>
            </a:avLst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28032" y="4078224"/>
            <a:ext cx="4389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  <a:ea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40680" y="3950208"/>
            <a:ext cx="6217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2F63"/>
                </a:solidFill>
                <a:latin typeface="Calibri"/>
                <a:ea typeface="Calibri"/>
              </a:rPr>
              <a:t>И-мэйлээр нэвтрэх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4261104"/>
            <a:ext cx="6217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  <a:ea typeface="Calibri"/>
              </a:rPr>
              <a:t>Нөөц арга. «И-мэйлээр нэвтрэх» дарж хаяг + нууц үг оруулна.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791456"/>
            <a:ext cx="7178040" cy="749808"/>
          </a:xfrm>
          <a:prstGeom prst="roundRect">
            <a:avLst>
              <a:gd name="adj" fmla="val 6000"/>
            </a:avLst>
          </a:prstGeom>
          <a:solidFill>
            <a:srgbClr val="FFF7ED"/>
          </a:solidFill>
          <a:ln w="11430">
            <a:solidFill>
              <a:srgbClr val="FDBA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8032" y="48646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A580C"/>
                </a:solidFill>
                <a:latin typeface="Calibri"/>
                <a:ea typeface="Calibri"/>
              </a:rPr>
              <a:t>Нууц үг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28032" y="5120640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  <a:ea typeface="Calibri"/>
              </a:rPr>
              <a:t>Утасны сүүлийн 4 орон + нэрийн латин бичлэг.   Жишээ: А.Номин / 99178904  →  8904Nomin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63440" y="5632704"/>
            <a:ext cx="717804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28032" y="5742432"/>
            <a:ext cx="6858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  <a:ea typeface="Calibri"/>
              </a:rPr>
              <a:t>«Намайг сана» — энэ төхөөрөмж дээр дараагийн удаа нэрийг санана.
И-мэйл: nomin@dornogovi.gov.mn хэлбэртэй. Нэвтрэх нэр нь үндсэндээ утас.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manage дотоод систем  ·  Дорноговь аймгийн ЗДТГ  ·  manage.dornogovi.gov.mn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1 /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00584" cy="561441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  <a:ea typeface="Calibri"/>
              </a:rPr>
              <a:t>Харагдах байдал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85216"/>
            <a:ext cx="11338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FDBFE"/>
                </a:solidFill>
                <a:latin typeface="Calibri"/>
                <a:ea typeface="Calibri"/>
              </a:rPr>
              <a:t>Зүүн цэс · толгой · ажлын хэсэг   ·   компьютер / утас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" y="1152144"/>
            <a:ext cx="8275320" cy="5266944"/>
          </a:xfrm>
          <a:prstGeom prst="roundRect">
            <a:avLst>
              <a:gd name="adj" fmla="val 2500"/>
            </a:avLst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8328" y="1197864"/>
            <a:ext cx="2395728" cy="51755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34056" y="1197864"/>
            <a:ext cx="10972" cy="517550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289304"/>
            <a:ext cx="329184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" y="1271016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F2F63"/>
                </a:solidFill>
                <a:latin typeface="Calibri"/>
                <a:ea typeface="Calibri"/>
              </a:rPr>
              <a:t>manage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" y="1453896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  <a:ea typeface="Calibri"/>
              </a:rPr>
              <a:t>дотоод систем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" y="1655064"/>
            <a:ext cx="2395728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1709928"/>
            <a:ext cx="224942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64748B"/>
                </a:solidFill>
                <a:latin typeface="Calibri"/>
                <a:ea typeface="Calibri"/>
              </a:rPr>
              <a:t>САМБАР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1856232"/>
            <a:ext cx="2249424" cy="256032"/>
          </a:xfrm>
          <a:prstGeom prst="roundRect">
            <a:avLst>
              <a:gd name="adj" fmla="val 12000"/>
            </a:avLst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" y="1874520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  <a:ea typeface="Calibri"/>
              </a:rPr>
              <a:t>Албан хаагчийн самбар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148840"/>
            <a:ext cx="224942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64748B"/>
                </a:solidFill>
                <a:latin typeface="Calibri"/>
                <a:ea typeface="Calibri"/>
              </a:rPr>
              <a:t>ХОЛБООСОН СИСТЕМҮҮД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2295144"/>
            <a:ext cx="2249424" cy="2560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" y="2313432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  <a:ea typeface="Calibri"/>
              </a:rPr>
              <a:t>Төрийн ERP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2569464"/>
            <a:ext cx="2249424" cy="2560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208" y="2587752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  <a:ea typeface="Calibri"/>
              </a:rPr>
              <a:t>Шилэн данс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2862072"/>
            <a:ext cx="224942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64748B"/>
                </a:solidFill>
                <a:latin typeface="Calibri"/>
                <a:ea typeface="Calibri"/>
              </a:rPr>
              <a:t>АЖЛЫН УДИРДЛАГА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3008376"/>
            <a:ext cx="2249424" cy="2560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" y="3026664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  <a:ea typeface="Calibri"/>
              </a:rPr>
              <a:t>Үүрэг даалгавар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3282696"/>
            <a:ext cx="2249424" cy="2560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" y="3300984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  <a:ea typeface="Calibri"/>
              </a:rPr>
              <a:t>Ажлын хэсэг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3557016"/>
            <a:ext cx="2249424" cy="2560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" y="3575304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  <a:ea typeface="Calibri"/>
              </a:rPr>
              <a:t>Төлөвлөгөө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3849624"/>
            <a:ext cx="224942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64748B"/>
                </a:solidFill>
                <a:latin typeface="Calibri"/>
                <a:ea typeface="Calibri"/>
              </a:rPr>
              <a:t>БИЧИГ ХЭРЭГ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3995928"/>
            <a:ext cx="2249424" cy="2560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1208" y="4014216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  <a:ea typeface="Calibri"/>
              </a:rPr>
              <a:t>Захирамж, тушаал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4288536"/>
            <a:ext cx="224942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64748B"/>
                </a:solidFill>
                <a:latin typeface="Calibri"/>
                <a:ea typeface="Calibri"/>
              </a:rPr>
              <a:t>ХҮНИЙ НӨӨЦ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434840"/>
            <a:ext cx="2249424" cy="2560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8" y="4453128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  <a:ea typeface="Calibri"/>
              </a:rPr>
              <a:t>Утасны жагсаалт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1480" y="4709160"/>
            <a:ext cx="2249424" cy="2560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1208" y="4727448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  <a:ea typeface="Calibri"/>
              </a:rPr>
              <a:t>Чөлөөний бүртгэл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5001768"/>
            <a:ext cx="224942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>
                <a:solidFill>
                  <a:srgbClr val="64748B"/>
                </a:solidFill>
                <a:latin typeface="Calibri"/>
                <a:ea typeface="Calibri"/>
              </a:rPr>
              <a:t>МЭДЭЭЛЭЛ, СУРГАЛТ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" y="5148072"/>
            <a:ext cx="2249424" cy="2560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8" y="5166360"/>
            <a:ext cx="2103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Calibri"/>
                <a:ea typeface="Calibri"/>
              </a:rPr>
              <a:t>Гарын авлага, сургалт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" y="5806440"/>
            <a:ext cx="2395728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80" y="5861304"/>
            <a:ext cx="22494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  <a:ea typeface="Calibri"/>
              </a:rPr>
              <a:t>Сан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6044184"/>
            <a:ext cx="224942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75569"/>
                </a:solidFill>
                <a:latin typeface="Calibri"/>
                <a:ea typeface="Calibri"/>
              </a:rPr>
              <a:t>Хандах эрх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6208776"/>
            <a:ext cx="224942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alibri"/>
                <a:ea typeface="Calibri"/>
              </a:rPr>
              <a:t>Системийн тохиргоо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734056" y="1197864"/>
            <a:ext cx="5788152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734056" y="1655064"/>
            <a:ext cx="5788152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880360" y="1289304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2F63"/>
                </a:solidFill>
                <a:latin typeface="Calibri"/>
                <a:ea typeface="Calibri"/>
              </a:rPr>
              <a:t>Албан хаагчийн самбар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94576" y="1280160"/>
            <a:ext cx="1481328" cy="292608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949440" y="1316736"/>
            <a:ext cx="219456" cy="219456"/>
          </a:xfrm>
          <a:prstGeom prst="roundRect">
            <a:avLst>
              <a:gd name="adj" fmla="val 50000"/>
            </a:avLst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05472" y="1298448"/>
            <a:ext cx="11155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F2F63"/>
                </a:solidFill>
                <a:latin typeface="Calibri"/>
                <a:ea typeface="Calibri"/>
              </a:rPr>
              <a:t>А.Номин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34056" y="1664208"/>
            <a:ext cx="5788152" cy="47091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98648" y="1746504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2F63"/>
                </a:solidFill>
                <a:latin typeface="Calibri"/>
                <a:ea typeface="Calibri"/>
              </a:rPr>
              <a:t>Засаг даргын Тамгын газар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898648" y="1984248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  <a:ea typeface="Calibri"/>
              </a:rPr>
              <a:t>Албан хаагчийн товч үзүүлэлт, явц.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880360" y="2276856"/>
            <a:ext cx="1042415" cy="841248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3758183" y="236829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953512" y="2368296"/>
            <a:ext cx="89611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B45309"/>
                </a:solidFill>
                <a:latin typeface="Calibri"/>
                <a:ea typeface="Calibri"/>
              </a:rPr>
              <a:t>Чөлөө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53512" y="2642616"/>
            <a:ext cx="89611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B45309"/>
                </a:solidFill>
                <a:latin typeface="Calibri"/>
                <a:ea typeface="Calibri"/>
              </a:rPr>
              <a:t>3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995928" y="2276856"/>
            <a:ext cx="1042415" cy="841248"/>
          </a:xfrm>
          <a:prstGeom prst="roundRect">
            <a:avLst>
              <a:gd name="adj" fmla="val 10000"/>
            </a:avLst>
          </a:prstGeom>
          <a:solidFill>
            <a:srgbClr val="F0F9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873751" y="2368296"/>
            <a:ext cx="91440" cy="9144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069080" y="2368296"/>
            <a:ext cx="89611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369A1"/>
                </a:solidFill>
                <a:latin typeface="Calibri"/>
                <a:ea typeface="Calibri"/>
              </a:rPr>
              <a:t>Томилолт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69080" y="2642616"/>
            <a:ext cx="89611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369A1"/>
                </a:solidFill>
                <a:latin typeface="Calibri"/>
                <a:ea typeface="Calibri"/>
              </a:rPr>
              <a:t>1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111496" y="2276856"/>
            <a:ext cx="1042415" cy="841248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5989319" y="2368296"/>
            <a:ext cx="91440" cy="9144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184648" y="2368296"/>
            <a:ext cx="89611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047857"/>
                </a:solidFill>
                <a:latin typeface="Calibri"/>
                <a:ea typeface="Calibri"/>
              </a:rPr>
              <a:t>Төлөвлөгөө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184648" y="2642616"/>
            <a:ext cx="89611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47857"/>
                </a:solidFill>
                <a:latin typeface="Calibri"/>
                <a:ea typeface="Calibri"/>
              </a:rPr>
              <a:t>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227064" y="2276856"/>
            <a:ext cx="1042415" cy="841248"/>
          </a:xfrm>
          <a:prstGeom prst="roundRect">
            <a:avLst>
              <a:gd name="adj" fmla="val 10000"/>
            </a:avLst>
          </a:prstGeom>
          <a:solidFill>
            <a:srgbClr val="F5F3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7104887" y="2368296"/>
            <a:ext cx="91440" cy="9144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00216" y="2368296"/>
            <a:ext cx="89611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6D28D9"/>
                </a:solidFill>
                <a:latin typeface="Calibri"/>
                <a:ea typeface="Calibri"/>
              </a:rPr>
              <a:t>Ажлын хэсэг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0216" y="2642616"/>
            <a:ext cx="89611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6D28D9"/>
                </a:solidFill>
                <a:latin typeface="Calibri"/>
                <a:ea typeface="Calibri"/>
              </a:rPr>
              <a:t>4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342632" y="2276856"/>
            <a:ext cx="1042415" cy="841248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8220455" y="2368296"/>
            <a:ext cx="91440" cy="91440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415784" y="2368296"/>
            <a:ext cx="89611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334155"/>
                </a:solidFill>
                <a:latin typeface="Calibri"/>
                <a:ea typeface="Calibri"/>
              </a:rPr>
              <a:t>Үүрэг 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415784" y="2642616"/>
            <a:ext cx="89611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34155"/>
                </a:solidFill>
                <a:latin typeface="Calibri"/>
                <a:ea typeface="Calibri"/>
              </a:rPr>
              <a:t>68%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880360" y="3264407"/>
            <a:ext cx="5495544" cy="2834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26664" y="3392424"/>
            <a:ext cx="52395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2F63"/>
                </a:solidFill>
                <a:latin typeface="Calibri"/>
                <a:ea typeface="Calibri"/>
              </a:rPr>
              <a:t>Зүүн цэсээр бүх хуудас руу орно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026664" y="3703320"/>
            <a:ext cx="5239512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Цэс эрхээс хамаарна — хаасан цэс харагдахгүй.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Толгой: хуудасны нэр · QR уншигч · мэдэгдэл · өргөтгөл · хэрэглэгч.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Цэсийг компьютераар хурааж болно.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«Үүрэг даалгавар» — Ажлын удирдлага бүлэгт.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Эхний хуудас — Албан хаагчийн самбар.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732520" y="1152144"/>
            <a:ext cx="3127248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732520" y="1152144"/>
            <a:ext cx="91440" cy="2468880"/>
          </a:xfrm>
          <a:prstGeom prst="rect">
            <a:avLst/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961120" y="126187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F2F63"/>
                </a:solidFill>
                <a:latin typeface="Calibri"/>
                <a:ea typeface="Calibri"/>
              </a:rPr>
              <a:t>Компьютер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961120" y="1591056"/>
            <a:ext cx="27432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Зүүн цэс байнга харагдана.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Дараалал: Самбар → Холбосон системүүд → Ажлын удирдлага → Бичиг хэрэг → Хүний нөөц.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Доор: Сан, Хандах эрх, тохиргоо.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732520" y="3767328"/>
            <a:ext cx="3127248" cy="2651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732520" y="3767328"/>
            <a:ext cx="91440" cy="26517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961120" y="387705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F2F63"/>
                </a:solidFill>
                <a:latin typeface="Calibri"/>
                <a:ea typeface="Calibri"/>
              </a:rPr>
              <a:t>Утас / хөтөч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961120" y="4187952"/>
            <a:ext cx="27432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Safari эсвэл Chrome хөтчөөр орно.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Апп болгон суулгахгүй.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Цэс товчоор зүүн цэс нээгдэнэ.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Хаяг: manage.dornogovi.gov.mn</a:t>
            </a:r>
          </a:p>
        </p:txBody>
      </p:sp>
      <p:sp>
        <p:nvSpPr>
          <p:cNvPr id="84" name="Rectangle 8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manage дотоод систем  ·  Дорноговь аймгийн ЗДТГ  ·  manage.dornogovi.gov.mn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2 /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00584" cy="561441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  <a:ea typeface="Calibri"/>
              </a:rPr>
              <a:t>Албан хаагчийн самбар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85216"/>
            <a:ext cx="11338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FDBFE"/>
                </a:solidFill>
                <a:latin typeface="Calibri"/>
                <a:ea typeface="Calibri"/>
              </a:rPr>
              <a:t>Нэвтэрсний дараах эхний хуудас  ·  зүүн цэс: Самбар → Албан хаагчийн самбар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170432"/>
            <a:ext cx="2212848" cy="1207008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1143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322576" y="129844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261872"/>
            <a:ext cx="18470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45309"/>
                </a:solidFill>
                <a:latin typeface="Calibri"/>
                <a:ea typeface="Calibri"/>
              </a:rPr>
              <a:t>Хүлээгдэж буй чөлөө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627632"/>
            <a:ext cx="19933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B45309"/>
                </a:solidFill>
                <a:latin typeface="Calibri"/>
                <a:ea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2048256"/>
            <a:ext cx="19933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B45309"/>
                </a:solidFill>
                <a:latin typeface="Calibri"/>
                <a:ea typeface="Calibri"/>
              </a:rPr>
              <a:t>Дэлгэрэнгүй харах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06624" y="1170432"/>
            <a:ext cx="2212848" cy="1207008"/>
          </a:xfrm>
          <a:prstGeom prst="roundRect">
            <a:avLst>
              <a:gd name="adj" fmla="val 8000"/>
            </a:avLst>
          </a:prstGeom>
          <a:solidFill>
            <a:srgbClr val="F0F9FF"/>
          </a:solidFill>
          <a:ln w="1143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63440" y="129844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16352" y="1261872"/>
            <a:ext cx="18470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369A1"/>
                </a:solidFill>
                <a:latin typeface="Calibri"/>
                <a:ea typeface="Calibri"/>
              </a:rPr>
              <a:t>Идэвхтэй томилолт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6352" y="1627632"/>
            <a:ext cx="19933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369A1"/>
                </a:solidFill>
                <a:latin typeface="Calibri"/>
                <a:ea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6352" y="2048256"/>
            <a:ext cx="19933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369A1"/>
                </a:solidFill>
                <a:latin typeface="Calibri"/>
                <a:ea typeface="Calibri"/>
              </a:rPr>
              <a:t>Дэлгэрэнгүй харах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47488" y="1170432"/>
            <a:ext cx="2212848" cy="1207008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143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004304" y="129844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57216" y="1261872"/>
            <a:ext cx="18470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47857"/>
                </a:solidFill>
                <a:latin typeface="Calibri"/>
                <a:ea typeface="Calibri"/>
              </a:rPr>
              <a:t>Идэвхтэй төлөвлөгөө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7216" y="1627632"/>
            <a:ext cx="19933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47857"/>
                </a:solidFill>
                <a:latin typeface="Calibri"/>
                <a:ea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7216" y="2048256"/>
            <a:ext cx="19933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47857"/>
                </a:solidFill>
                <a:latin typeface="Calibri"/>
                <a:ea typeface="Calibri"/>
              </a:rPr>
              <a:t>Дэлгэрэнгүй харах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88352" y="1170432"/>
            <a:ext cx="2212848" cy="1207008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 w="1143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45168" y="129844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0" y="1261872"/>
            <a:ext cx="18470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6D28D9"/>
                </a:solidFill>
                <a:latin typeface="Calibri"/>
                <a:ea typeface="Calibri"/>
              </a:rPr>
              <a:t>Ажлын хэсэг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0" y="1627632"/>
            <a:ext cx="19933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D28D9"/>
                </a:solidFill>
                <a:latin typeface="Calibri"/>
                <a:ea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0" y="2048256"/>
            <a:ext cx="19933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D28D9"/>
                </a:solidFill>
                <a:latin typeface="Calibri"/>
                <a:ea typeface="Calibri"/>
              </a:rPr>
              <a:t>Дэлгэрэнгүй харах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29216" y="1170432"/>
            <a:ext cx="2212848" cy="1207008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143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1686032" y="129844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38944" y="1261872"/>
            <a:ext cx="18470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34155"/>
                </a:solidFill>
                <a:latin typeface="Calibri"/>
                <a:ea typeface="Calibri"/>
              </a:rPr>
              <a:t>Үүргийн дундаж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38944" y="1627632"/>
            <a:ext cx="19933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334155"/>
                </a:solidFill>
                <a:latin typeface="Calibri"/>
                <a:ea typeface="Calibri"/>
              </a:rPr>
              <a:t>68%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2542032"/>
            <a:ext cx="7680960" cy="3858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0352" y="2651760"/>
            <a:ext cx="5669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2F63"/>
                </a:solidFill>
                <a:latin typeface="Calibri"/>
                <a:ea typeface="Calibri"/>
              </a:rPr>
              <a:t>Сүүлийн чөлөө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267004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1C55A5"/>
                </a:solidFill>
                <a:latin typeface="Calibri"/>
                <a:ea typeface="Calibri"/>
              </a:rPr>
              <a:t>Бүгд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0352" y="3529584"/>
            <a:ext cx="735177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307238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  <a:ea typeface="Calibri"/>
              </a:rPr>
              <a:t>Б.Бат  ·  Ээлжийн амралт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0" y="3072384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Calibri"/>
                <a:ea typeface="Calibri"/>
              </a:rPr>
              <a:t>хүлээгдэж буй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4041648"/>
            <a:ext cx="735177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0352" y="358444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  <a:ea typeface="Calibri"/>
              </a:rPr>
              <a:t>Д.Саран  ·  Өвчний чөлөө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0" y="358444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Calibri"/>
                <a:ea typeface="Calibri"/>
              </a:rPr>
              <a:t>хүлээгдэж буй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0352" y="4553712"/>
            <a:ext cx="7351775" cy="914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0352" y="409651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Calibri"/>
                <a:ea typeface="Calibri"/>
              </a:rPr>
              <a:t>Г.Эрдэнэ  ·  Цалинтай чөлөө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0" y="409651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64748B"/>
                </a:solidFill>
                <a:latin typeface="Calibri"/>
                <a:ea typeface="Calibri"/>
              </a:rPr>
              <a:t>батлагдсан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30352" y="4754880"/>
            <a:ext cx="7351775" cy="1444752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6656" y="4864608"/>
            <a:ext cx="7059168" cy="1243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475569"/>
                </a:solidFill>
                <a:latin typeface="Calibri"/>
                <a:ea typeface="Calibri"/>
              </a:rPr>
              <a:t>1.  Карт дээр дарна → доор сүүлийн бүртгэл нээгдэнэ.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475569"/>
                </a:solidFill>
                <a:latin typeface="Calibri"/>
                <a:ea typeface="Calibri"/>
              </a:rPr>
              <a:t>2.  «Бүгд» → тухайн бүртгэлийн хуудас руу орно.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475569"/>
                </a:solidFill>
                <a:latin typeface="Calibri"/>
                <a:ea typeface="Calibri"/>
              </a:rPr>
              <a:t>3.  Дахин дарахад самбар хаагдана.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475569"/>
                </a:solidFill>
                <a:latin typeface="Calibri"/>
                <a:ea typeface="Calibri"/>
              </a:rPr>
              <a:t>4.  Үүргийн дундаж нээгдэхгүй — зөвхөн хувь харуулна.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11312" y="2542032"/>
            <a:ext cx="3611880" cy="3858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211312" y="2542032"/>
            <a:ext cx="91440" cy="385876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49056" y="2688336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F2F63"/>
                </a:solidFill>
                <a:latin typeface="Calibri"/>
                <a:ea typeface="Calibri"/>
              </a:rPr>
              <a:t>Таван карт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49056" y="3072384"/>
            <a:ext cx="3200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  <a:latin typeface="Calibri"/>
                <a:ea typeface="Calibri"/>
              </a:rPr>
              <a:t>Чөлөө — хүлээгдэж буй тоо.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  <a:latin typeface="Calibri"/>
                <a:ea typeface="Calibri"/>
              </a:rPr>
              <a:t>Томилолт — идэвхтэй явц.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  <a:latin typeface="Calibri"/>
                <a:ea typeface="Calibri"/>
              </a:rPr>
              <a:t>Төлөвлөгөө — нээлттэй төлөвлөгөө.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  <a:latin typeface="Calibri"/>
                <a:ea typeface="Calibri"/>
              </a:rPr>
              <a:t>Ажлын хэсэг — багийн тоо.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  <a:latin typeface="Calibri"/>
                <a:ea typeface="Calibri"/>
              </a:rPr>
              <a:t>Үүргийн дундаж — бүх үүргийн %.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  <a:latin typeface="Calibri"/>
                <a:ea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  <a:latin typeface="Calibri"/>
                <a:ea typeface="Calibri"/>
              </a:rPr>
              <a:t>Өдөр тутмын тоймоо эндээс авна.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manage дотоод систем  ·  Дорноговь аймгийн ЗДТГ  ·  manage.dornogovi.gov.mn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3 /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87552"/>
            <a:ext cx="100584" cy="561441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64592"/>
            <a:ext cx="11338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  <a:ea typeface="Calibri"/>
              </a:rPr>
              <a:t>Үүрэг даалгавар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85216"/>
            <a:ext cx="11338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FDBFE"/>
                </a:solidFill>
                <a:latin typeface="Calibri"/>
                <a:ea typeface="Calibri"/>
              </a:rPr>
              <a:t>Зүүн цэс: Ажлын удирдлага → Үүрэг даалгавар   ·   нүд дээр дарж шууд засна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133856"/>
            <a:ext cx="1691640" cy="329184"/>
          </a:xfrm>
          <a:prstGeom prst="roundRect">
            <a:avLst>
              <a:gd name="adj" fmla="val 15000"/>
            </a:avLst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161288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Word оруулах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1133856"/>
            <a:ext cx="1325880" cy="32918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48840" y="116128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F2F63"/>
                </a:solidFill>
                <a:latin typeface="Calibri"/>
                <a:ea typeface="Calibri"/>
              </a:rPr>
              <a:t>Татах  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1133856"/>
            <a:ext cx="2011680" cy="329184"/>
          </a:xfrm>
          <a:prstGeom prst="roundRect">
            <a:avLst>
              <a:gd name="adj" fmla="val 15000"/>
            </a:avLst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116128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Үүрэг чиглэл нэмэх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1152144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  <a:ea typeface="Calibri"/>
              </a:rPr>
              <a:t>Татах: Word · Excel · PDF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1554480"/>
            <a:ext cx="11475720" cy="4206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8912" y="1609344"/>
            <a:ext cx="2011680" cy="310896"/>
          </a:xfrm>
          <a:prstGeom prst="roundRect">
            <a:avLst>
              <a:gd name="adj" fmla="val 12000"/>
            </a:avLst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1645920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  <a:ea typeface="Calibri"/>
              </a:rPr>
              <a:t>Үүрэг чиглэл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78608" y="1645920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  <a:ea typeface="Calibri"/>
              </a:rPr>
              <a:t>Бэлтгэл ажил хангах төлөвлөгөө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164592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55A5"/>
                </a:solidFill>
                <a:latin typeface="Calibri"/>
                <a:ea typeface="Calibri"/>
              </a:rPr>
              <a:t>+ Хэсэг нэмэх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2084831"/>
            <a:ext cx="1147572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2194560"/>
            <a:ext cx="402336" cy="402336"/>
          </a:xfrm>
          <a:prstGeom prst="roundRect">
            <a:avLst>
              <a:gd name="adj" fmla="val 15000"/>
            </a:avLst>
          </a:prstGeom>
          <a:solidFill>
            <a:srgbClr val="E8EE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2139696"/>
            <a:ext cx="4023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F2F63"/>
                </a:solidFill>
                <a:latin typeface="Calibri"/>
                <a:ea typeface="Calibri"/>
              </a:rPr>
              <a:t>Хэрэгжилтийн дашбоард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2359152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  <a:ea typeface="Calibri"/>
              </a:rPr>
              <a:t>Дарж дэлгэрэнгүй графикаар харна    Нийт 12   Дууссан 5   Эхлээгүй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2176272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>
                <a:solidFill>
                  <a:srgbClr val="0F2F63"/>
                </a:solidFill>
                <a:latin typeface="Calibri"/>
                <a:ea typeface="Calibri"/>
              </a:rPr>
              <a:t>62%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212080" y="2340864"/>
            <a:ext cx="4892040" cy="128016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212080" y="2340864"/>
            <a:ext cx="3017520" cy="128016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2852928"/>
            <a:ext cx="457200" cy="310896"/>
          </a:xfrm>
          <a:prstGeom prst="rect">
            <a:avLst/>
          </a:prstGeom>
          <a:solidFill>
            <a:srgbClr val="E8EEF6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2889504"/>
            <a:ext cx="384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E406B"/>
                </a:solidFill>
                <a:latin typeface="Calibri"/>
                <a:ea typeface="Calibri"/>
              </a:rPr>
              <a:t>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2852928"/>
            <a:ext cx="3108960" cy="310896"/>
          </a:xfrm>
          <a:prstGeom prst="rect">
            <a:avLst/>
          </a:prstGeom>
          <a:solidFill>
            <a:srgbClr val="E8EEF6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2889504"/>
            <a:ext cx="30358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E406B"/>
                </a:solidFill>
                <a:latin typeface="Calibri"/>
                <a:ea typeface="Calibri"/>
              </a:rPr>
              <a:t>Үүрэг чиглэл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31920" y="2852928"/>
            <a:ext cx="2103120" cy="310896"/>
          </a:xfrm>
          <a:prstGeom prst="rect">
            <a:avLst/>
          </a:prstGeom>
          <a:solidFill>
            <a:srgbClr val="E8EEF6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77640" y="2889504"/>
            <a:ext cx="20299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E406B"/>
                </a:solidFill>
                <a:latin typeface="Calibri"/>
                <a:ea typeface="Calibri"/>
              </a:rPr>
              <a:t>Хариуцах эзэн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35040" y="2852928"/>
            <a:ext cx="2468880" cy="310896"/>
          </a:xfrm>
          <a:prstGeom prst="rect">
            <a:avLst/>
          </a:prstGeom>
          <a:solidFill>
            <a:srgbClr val="E8EEF6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80760" y="2889504"/>
            <a:ext cx="23957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E406B"/>
                </a:solidFill>
                <a:latin typeface="Calibri"/>
                <a:ea typeface="Calibri"/>
              </a:rPr>
              <a:t>Хяналт тавих албан тушаалтан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03920" y="2852928"/>
            <a:ext cx="1965960" cy="310896"/>
          </a:xfrm>
          <a:prstGeom prst="rect">
            <a:avLst/>
          </a:prstGeom>
          <a:solidFill>
            <a:srgbClr val="E8EEF6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49640" y="2889504"/>
            <a:ext cx="18928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E406B"/>
                </a:solidFill>
                <a:latin typeface="Calibri"/>
                <a:ea typeface="Calibri"/>
              </a:rPr>
              <a:t>Хэрэгжилт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469880" y="2852928"/>
            <a:ext cx="1371600" cy="310896"/>
          </a:xfrm>
          <a:prstGeom prst="rect">
            <a:avLst/>
          </a:prstGeom>
          <a:solidFill>
            <a:srgbClr val="E8EEF6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5600" y="2889504"/>
            <a:ext cx="12984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E406B"/>
                </a:solidFill>
                <a:latin typeface="Calibri"/>
                <a:ea typeface="Calibri"/>
              </a:rPr>
              <a:t>Биелэлтийн хувь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3163824"/>
            <a:ext cx="4572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3218688"/>
            <a:ext cx="384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Calibri"/>
                <a:ea typeface="Calibri"/>
              </a:rPr>
              <a:t>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3163824"/>
            <a:ext cx="3108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3218688"/>
            <a:ext cx="3035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  <a:ea typeface="Calibri"/>
              </a:rPr>
              <a:t>Зудын эсрэг бэлтгэл хангах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31920" y="3163824"/>
            <a:ext cx="21031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977640" y="3218688"/>
            <a:ext cx="2029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  <a:ea typeface="Calibri"/>
              </a:rPr>
              <a:t>А.Номин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3163824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80760" y="3218688"/>
            <a:ext cx="23957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  <a:ea typeface="Calibri"/>
              </a:rPr>
              <a:t>Хэлтсийн дарга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03920" y="3163824"/>
            <a:ext cx="1965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49640" y="3218688"/>
            <a:ext cx="1892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  <a:ea typeface="Calibri"/>
              </a:rPr>
              <a:t>Хурлын шийдвэр гарсан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469880" y="3163824"/>
            <a:ext cx="13716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15600" y="3218688"/>
            <a:ext cx="12984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Calibri"/>
                <a:ea typeface="Calibri"/>
              </a:rPr>
              <a:t>80%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3529584"/>
            <a:ext cx="457200" cy="36576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11480" y="3584448"/>
            <a:ext cx="384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Calibri"/>
                <a:ea typeface="Calibri"/>
              </a:rPr>
              <a:t>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2960" y="3529584"/>
            <a:ext cx="3108960" cy="36576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" y="3584448"/>
            <a:ext cx="3035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  <a:ea typeface="Calibri"/>
              </a:rPr>
              <a:t>Сумдын тайлан нэгтгэх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931920" y="3529584"/>
            <a:ext cx="2103120" cy="36576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977640" y="3584448"/>
            <a:ext cx="2029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  <a:ea typeface="Calibri"/>
              </a:rPr>
              <a:t>А.Бадрал / Ц.Саран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035040" y="3529584"/>
            <a:ext cx="2468880" cy="36576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80760" y="3584448"/>
            <a:ext cx="23957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  <a:ea typeface="Calibri"/>
              </a:rPr>
              <a:t>Дэд дарга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503920" y="3529584"/>
            <a:ext cx="1965960" cy="36576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49640" y="3584448"/>
            <a:ext cx="1892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  <a:ea typeface="Calibri"/>
              </a:rPr>
              <a:t>Цуглуулж байна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469880" y="3529584"/>
            <a:ext cx="1371600" cy="36576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515600" y="3584448"/>
            <a:ext cx="12984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Calibri"/>
                <a:ea typeface="Calibri"/>
              </a:rPr>
              <a:t>45%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895344"/>
            <a:ext cx="4572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11480" y="3950208"/>
            <a:ext cx="3840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Calibri"/>
                <a:ea typeface="Calibri"/>
              </a:rPr>
              <a:t>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895344"/>
            <a:ext cx="3108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68680" y="3950208"/>
            <a:ext cx="3035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  <a:ea typeface="Calibri"/>
              </a:rPr>
              <a:t>Сургалтын хуваарь батлуулах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931920" y="3895344"/>
            <a:ext cx="21031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977640" y="3950208"/>
            <a:ext cx="2029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  <a:ea typeface="Calibri"/>
              </a:rPr>
              <a:t>Б.Эрдэнэ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35040" y="3895344"/>
            <a:ext cx="24688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080760" y="3950208"/>
            <a:ext cx="23957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  <a:ea typeface="Calibri"/>
              </a:rPr>
              <a:t>Хэлтсийн дарга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503920" y="3895344"/>
            <a:ext cx="196596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549640" y="3950208"/>
            <a:ext cx="1892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F172A"/>
                </a:solidFill>
                <a:latin typeface="Calibri"/>
                <a:ea typeface="Calibri"/>
              </a:rPr>
              <a:t>Эхлээгүй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469880" y="3895344"/>
            <a:ext cx="13716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515600" y="3950208"/>
            <a:ext cx="12984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A580C"/>
                </a:solidFill>
                <a:latin typeface="Calibri"/>
                <a:ea typeface="Calibri"/>
              </a:rPr>
              <a:t>0%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65760" y="4736592"/>
            <a:ext cx="3749039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65760" y="4736592"/>
            <a:ext cx="91440" cy="1664208"/>
          </a:xfrm>
          <a:prstGeom prst="rect">
            <a:avLst/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828032"/>
            <a:ext cx="345643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F2F63"/>
                </a:solidFill>
                <a:latin typeface="Calibri"/>
                <a:ea typeface="Calibri"/>
              </a:rPr>
              <a:t>Нүд засах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66928" y="5138928"/>
            <a:ext cx="3456431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  <a:ea typeface="Calibri"/>
              </a:rPr>
              <a:t>Нүд дээр дарж шууд бичнэ. Тусдаа «Хадгалах» байхгүй.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224527" y="4736592"/>
            <a:ext cx="3749039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224527" y="4736592"/>
            <a:ext cx="91440" cy="1664208"/>
          </a:xfrm>
          <a:prstGeom prst="rect">
            <a:avLst/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425695" y="4828032"/>
            <a:ext cx="345643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F2F63"/>
                </a:solidFill>
                <a:latin typeface="Calibri"/>
                <a:ea typeface="Calibri"/>
              </a:rPr>
              <a:t>Хүн сонгох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425695" y="5138928"/>
            <a:ext cx="3456431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  <a:ea typeface="Calibri"/>
              </a:rPr>
              <a:t>Хариуцагч / хяналтыг утасны жагсаалтаас нэрээр сонгоно.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083294" y="4736592"/>
            <a:ext cx="3749039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143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083294" y="4736592"/>
            <a:ext cx="91440" cy="166420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84462" y="4828032"/>
            <a:ext cx="345643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F2F63"/>
                </a:solidFill>
                <a:latin typeface="Calibri"/>
                <a:ea typeface="Calibri"/>
              </a:rPr>
              <a:t>Хэсэг нэмэх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84462" y="5138928"/>
            <a:ext cx="3456431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  <a:ea typeface="Calibri"/>
              </a:rPr>
              <a:t>«+ Хэсэг нэмэх» — шинэ таб. Загвар: Үүрэг чиглэл эсвэл Бэлтгэл ажил.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F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20040" y="660196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manage дотоод систем  ·  Дорноговь аймгийн ЗДТГ  ·  manage.dornogovi.gov.mn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515600" y="660196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Calibri"/>
                <a:ea typeface="Calibri"/>
              </a:rPr>
              <a:t>4 /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